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7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498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44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· LÍNEA DE DATOS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Datos del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Macroentorno Ecuatoriano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Dashboard analítico en Power BI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7062" y="4566320"/>
            <a:ext cx="886968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737062" y="4566320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8622" y="4566320"/>
            <a:ext cx="1307592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1788622" y="4566320"/>
            <a:ext cx="1307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60806" y="456632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3260806" y="45663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Técnica Particular de Loja — Dirección General de Tecnologías de la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Transformación Digital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propósito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existe este reto y qué problema resuelve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96596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Macroentorno integra 9 fuentes públicas del Ecuador, pero se actualiza a mano y su pipeline no está documentado.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548640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3832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pipeline reproducible, con arquitectura medallón (Bronze → Silver → Gold), hasta un dashboard con 3 preguntas analíticas.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6227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54864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434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80060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semana 5, los archivos llegan automáticamente desde el equipo de RPA — la unión de ambos retos es el entregable institucional.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del Macroentorno Ecuatoriano · UTPL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2493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6481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bloques de fuentes públicas del Ecuador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44543"/>
            <a:ext cx="3630168" cy="5142401"/>
          </a:xfrm>
          <a:prstGeom prst="roundRect">
            <a:avLst>
              <a:gd name="adj" fmla="val 201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548640" y="1244544"/>
            <a:ext cx="3630168" cy="57720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548640" y="1244544"/>
            <a:ext cx="3630168" cy="577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BCE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84624"/>
            <a:ext cx="3172968" cy="41978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real anual</a:t>
            </a:r>
            <a:endParaRPr lang="en-US" sz="1200" dirty="0"/>
          </a:p>
          <a:p>
            <a:pPr marL="152400" indent="-1524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per cápita nominal</a:t>
            </a:r>
            <a:endParaRPr lang="en-US" sz="1200" dirty="0"/>
          </a:p>
          <a:p>
            <a:pPr marL="152400" indent="-1524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VAB por provincia e industria</a:t>
            </a:r>
            <a:endParaRPr lang="en-US" sz="1200" dirty="0"/>
          </a:p>
          <a:p>
            <a:pPr marL="152400" indent="-1524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petróleo y riesgo país</a:t>
            </a:r>
            <a:endParaRPr lang="en-US" sz="1200" dirty="0"/>
          </a:p>
          <a:p>
            <a:pPr marL="152400" indent="-1524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 — Expectativas Empresariales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5968" y="1244543"/>
            <a:ext cx="3630168" cy="5142401"/>
          </a:xfrm>
          <a:prstGeom prst="roundRect">
            <a:avLst>
              <a:gd name="adj" fmla="val 201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4315968" y="1244544"/>
            <a:ext cx="3630168" cy="5772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4315968" y="1244544"/>
            <a:ext cx="3630168" cy="577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INEC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4568" y="1884624"/>
            <a:ext cx="3172968" cy="41978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ENEMDU — Indicadores laborales</a:t>
            </a:r>
            <a:endParaRPr lang="en-US" sz="1200" dirty="0"/>
          </a:p>
          <a:p>
            <a:pPr marL="152400" indent="-1524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2022 — Rama de actividad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3296" y="1244543"/>
            <a:ext cx="3630168" cy="5142401"/>
          </a:xfrm>
          <a:prstGeom prst="roundRect">
            <a:avLst>
              <a:gd name="adj" fmla="val 201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8083296" y="1244544"/>
            <a:ext cx="3630168" cy="57720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8083296" y="1244544"/>
            <a:ext cx="3630168" cy="577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Supercias / MINEDUC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11896" y="1884624"/>
            <a:ext cx="3172968" cy="41978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empresas</a:t>
            </a:r>
            <a:endParaRPr lang="en-US" sz="1200" dirty="0"/>
          </a:p>
          <a:p>
            <a:pPr marL="152400" indent="-1524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compañías</a:t>
            </a:r>
            <a:endParaRPr lang="en-US" sz="1200" dirty="0"/>
          </a:p>
          <a:p>
            <a:pPr marL="152400" indent="-1524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AMIE 2023-2024 (bachillerato)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del Macroentorno Ecuatoriano · UTPL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46C5F15-46F6-6DA6-1ECD-21A7EB2DD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584" y="3139076"/>
            <a:ext cx="2467319" cy="219763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F69C85A2-253B-1683-1BD0-D00096294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8" y="3707618"/>
            <a:ext cx="2448267" cy="212109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8EEA893-F0AF-8233-0426-B0DC462853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524" y="3139076"/>
            <a:ext cx="2514951" cy="26896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 y transformación de datos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en el repositorio GitHub privado carpeta src/transform/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2999"/>
            <a:ext cx="5440680" cy="5285509"/>
          </a:xfrm>
          <a:prstGeom prst="roundRect">
            <a:avLst>
              <a:gd name="adj" fmla="val 274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731520" y="130759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731520" y="1307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30759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src/transform/bce.py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764792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de nombres de columnas y tipos numéricos.</a:t>
            </a:r>
            <a:endParaRPr lang="en-US" sz="1080" dirty="0"/>
          </a:p>
          <a:p>
            <a:pPr marL="152400" indent="-1524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Cabeceras multinivel del VAB pasadas de formato ancho a largo.</a:t>
            </a:r>
            <a:endParaRPr lang="en-US" sz="1080" dirty="0"/>
          </a:p>
          <a:p>
            <a:pPr marL="152400" indent="-1524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ancladas al 1 de enero para construir dim_tiempo.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172200" y="1143000"/>
            <a:ext cx="5440680" cy="5285508"/>
          </a:xfrm>
          <a:prstGeom prst="roundRect">
            <a:avLst>
              <a:gd name="adj" fmla="val 274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6355080" y="130759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6355080" y="1307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09560" y="130759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src/transform/inec.py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1764792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ENEMDU normalizado con melt() — nacional, urbana y rural.</a:t>
            </a:r>
            <a:endParaRPr lang="en-US" sz="1080" dirty="0"/>
          </a:p>
          <a:p>
            <a:pPr marL="152400" indent="-1524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2022: solo detalle atómico (sexo, edad, cantón real).</a:t>
            </a:r>
            <a:endParaRPr lang="en-US" sz="1080" dirty="0"/>
          </a:p>
          <a:p>
            <a:pPr marL="152400" indent="-1524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ramas de actividad a secciones CIIU.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del Macroentorno Ecuatoriano · UTPL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CA481183-1A3D-1438-84EA-3385D9A45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188" y="2651308"/>
            <a:ext cx="3867703" cy="371624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7D9AD631-8054-56D6-4026-641C3C3E8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679" y="2593408"/>
            <a:ext cx="3980133" cy="37657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 y transformación de datos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en el repositorio GitHub privado carpeta src/transform/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1031886"/>
            <a:ext cx="5440680" cy="5506073"/>
          </a:xfrm>
          <a:prstGeom prst="roundRect">
            <a:avLst>
              <a:gd name="adj" fmla="val 274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731520" y="1196479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731520" y="1196479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Supercias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1196479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src/transform/supercias.py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1653679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cruzado con Directorio por número de expediente.</a:t>
            </a:r>
            <a:endParaRPr lang="en-US" sz="1080" dirty="0"/>
          </a:p>
          <a:p>
            <a:pPr marL="152400" indent="-1524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y nombre normalizados (strip + title case).</a:t>
            </a:r>
            <a:endParaRPr lang="en-US" sz="1080" dirty="0"/>
          </a:p>
          <a:p>
            <a:pPr marL="152400" indent="-1524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situacion_legal documentada como limitación de la fuente.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172200" y="1031887"/>
            <a:ext cx="5440680" cy="5506072"/>
          </a:xfrm>
          <a:prstGeom prst="roundRect">
            <a:avLst>
              <a:gd name="adj" fmla="val 274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6355080" y="1196479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5C3A2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6355080" y="1196479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MINEDUC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09560" y="1196479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src/transform/mineduc.py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55080" y="1653679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con separador ';' y encoding latin-1.</a:t>
            </a:r>
            <a:endParaRPr lang="en-US" sz="1080" dirty="0"/>
          </a:p>
          <a:p>
            <a:pPr marL="152400" indent="-1524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nivel de educación = Bachillerato.</a:t>
            </a:r>
            <a:endParaRPr lang="en-US" sz="1080" dirty="0"/>
          </a:p>
          <a:p>
            <a:pPr marL="152400" indent="-1524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total_estudiantes convertido a numérico.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del Macroentorno Ecuatoriano · UTPL</a:t>
            </a:r>
            <a:endParaRPr lang="en-US" sz="90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DDC2E424-1888-E182-92C5-5B4C851E6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240" y="2452066"/>
            <a:ext cx="4153615" cy="399141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ABFFE6CA-D88D-D61B-CE61-B6EAAAAB7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250" y="2491943"/>
            <a:ext cx="4176510" cy="395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817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Tablas</a:t>
            </a: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Silver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y tablas de hechos en PostgreSQL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321040" y="86868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321040" y="868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12 tablas cargadas en PostgreSQL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685800" y="1490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dim_geografia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8013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/ cantón — compartida entre VAB, Supercias y MINEDUC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4434840" y="1490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dim_tiempo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18013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Fecha, año, mes, trimestre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8183880" y="1490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fact_pib_real_anual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83880" y="18013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real, población, PIB per cápita, variación 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85800" y="2542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fact_petroleo_riesgo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285292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petróleo WTI, riesgo país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0" y="246888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4434840" y="2542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fact_enemdu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285292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ENEMDU: nacional / urbano / rural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246888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EAF2F6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8183880" y="2542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+ 7 tablas más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83880" y="285292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VAB, IEE, Censo, Supercias (x2) y MINEDUC AMIE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del Macroentorno Ecuatoriano · UTPL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13EB6A9C-B5F9-636E-C332-76F8BEA2BF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931"/>
          <a:stretch/>
        </p:blipFill>
        <p:spPr>
          <a:xfrm>
            <a:off x="4434840" y="3862518"/>
            <a:ext cx="3405865" cy="2119382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C9441434-8D7B-2F96-BC49-359F251DE1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070"/>
          <a:stretch/>
        </p:blipFill>
        <p:spPr>
          <a:xfrm>
            <a:off x="8401272" y="3833916"/>
            <a:ext cx="3028728" cy="211938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DB001FA9-5A33-50E5-C9B7-CD840E0DB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46734"/>
            <a:ext cx="3242089" cy="31015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Vistas Gold — indicadores calculados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Cargadas en PostgreSQL y conectadas al dashboard de Power BI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321040" y="50292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8321040" y="502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 vistas activas en PostgreSQL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7160621" cy="768096"/>
          </a:xfrm>
          <a:prstGeom prst="roundRect">
            <a:avLst>
              <a:gd name="adj" fmla="val 793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685800" y="1431036"/>
            <a:ext cx="562198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685800" y="1431036"/>
            <a:ext cx="56219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417320"/>
            <a:ext cx="2899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gold_pib_tendencia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783079" y="1691640"/>
            <a:ext cx="61545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del PIB con clasificación de ciclo económico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975104"/>
            <a:ext cx="7160621" cy="768096"/>
          </a:xfrm>
          <a:prstGeom prst="roundRect">
            <a:avLst>
              <a:gd name="adj" fmla="val 793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685800" y="2135124"/>
            <a:ext cx="562198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685800" y="2135124"/>
            <a:ext cx="56219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2121408"/>
            <a:ext cx="2899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gold_empleo_tendencia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783079" y="2395728"/>
            <a:ext cx="61545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desempleo trimestral histórica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79192"/>
            <a:ext cx="7160621" cy="768096"/>
          </a:xfrm>
          <a:prstGeom prst="roundRect">
            <a:avLst>
              <a:gd name="adj" fmla="val 793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685800" y="2839212"/>
            <a:ext cx="562198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85800" y="2839212"/>
            <a:ext cx="56219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83080" y="2825496"/>
            <a:ext cx="2899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gold_petroleo_30dias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783079" y="3099816"/>
            <a:ext cx="61545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móvil de 30 días del precio WTI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7160621" cy="768096"/>
          </a:xfrm>
          <a:prstGeom prst="roundRect">
            <a:avLst>
              <a:gd name="adj" fmla="val 793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685800" y="3543300"/>
            <a:ext cx="562198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685800" y="3543300"/>
            <a:ext cx="56219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3529584"/>
            <a:ext cx="2899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gold_empresas_provincia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783079" y="3803904"/>
            <a:ext cx="61545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activas e ingresos por provincia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087368"/>
            <a:ext cx="7160621" cy="768096"/>
          </a:xfrm>
          <a:prstGeom prst="roundRect">
            <a:avLst>
              <a:gd name="adj" fmla="val 793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685800" y="4247388"/>
            <a:ext cx="562198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685800" y="4247388"/>
            <a:ext cx="56219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4233672"/>
            <a:ext cx="2899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gold_bachilleres_vs_empresas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783079" y="4507992"/>
            <a:ext cx="61545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MINEDUC + Supercias por provincia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791456"/>
            <a:ext cx="7160621" cy="768096"/>
          </a:xfrm>
          <a:prstGeom prst="roundRect">
            <a:avLst>
              <a:gd name="adj" fmla="val 793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685800" y="4951476"/>
            <a:ext cx="562198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685800" y="4951476"/>
            <a:ext cx="56219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83080" y="4937760"/>
            <a:ext cx="2899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gold_productividad_vab_empleo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783079" y="5212080"/>
            <a:ext cx="61545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VAB por persona ocupada, provincia y CIIU (adicional 6to)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495544"/>
            <a:ext cx="7160621" cy="768096"/>
          </a:xfrm>
          <a:prstGeom prst="roundRect">
            <a:avLst>
              <a:gd name="adj" fmla="val 793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685800" y="5655564"/>
            <a:ext cx="562198" cy="51206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685800" y="5655564"/>
            <a:ext cx="56219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783080" y="5641848"/>
            <a:ext cx="2899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gold_oportunidad_utpl_provincia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783079" y="5916168"/>
            <a:ext cx="61545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oportunidad UTPL por provincia (adicional 6to)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del Macroentorno Ecuatoriano · UTPL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C551204A-F783-8E61-8838-A6585D85C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646" y="1507481"/>
            <a:ext cx="2593230" cy="3184669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AF0A825C-97D3-E0D8-8681-83494E2A6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342" y="3308327"/>
            <a:ext cx="3330269" cy="24462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tres preguntas del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página responde una pregunta analítica concreta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30168" cy="4297680"/>
          </a:xfrm>
          <a:prstGeom prst="roundRect">
            <a:avLst>
              <a:gd name="adj" fmla="val 2519"/>
            </a:avLst>
          </a:prstGeom>
          <a:solidFill>
            <a:srgbClr val="1B3B6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815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ha evolucionado la economía ecuatoriana en los últimos 20 años?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30815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PIB real · barras de variación · KPI de PIB per cápita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8264" y="1600200"/>
            <a:ext cx="3630168" cy="4297680"/>
          </a:xfrm>
          <a:prstGeom prst="roundRect">
            <a:avLst>
              <a:gd name="adj" fmla="val 2519"/>
            </a:avLst>
          </a:prstGeom>
          <a:solidFill>
            <a:srgbClr val="1B3B6B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672584" y="1874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672584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72584" y="2880360"/>
            <a:ext cx="30815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sectores y provincias se concentran la actividad y el empleo?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72584" y="4343400"/>
            <a:ext cx="30815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 de VAB · empleo por rama CIIU · KPI de desempleo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47888" y="1600200"/>
            <a:ext cx="3630168" cy="4297680"/>
          </a:xfrm>
          <a:prstGeom prst="roundRect">
            <a:avLst>
              <a:gd name="adj" fmla="val 251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8522208" y="1874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8522208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22208" y="2880360"/>
            <a:ext cx="30815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están los bachilleres y cuántas empresas hay por provincia?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22208" y="4343400"/>
            <a:ext cx="30815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Bachilleres vs. empresas activas · tabla de ratio · KPI nacional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2208" y="5440680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del Macroentorno Ecuatoriano · UTPL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3657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ha evolucionado la economía ecuatoriana en los últimos 20 años?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 del Macroentorno Ecuatoriano · UTPL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9379187-5339-B424-8952-3F0A7B1E2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46" y="1017134"/>
            <a:ext cx="9305707" cy="52352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788</Words>
  <Application>Microsoft Office PowerPoint</Application>
  <PresentationFormat>Panorámica</PresentationFormat>
  <Paragraphs>135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DIEGO VILLAMAGUA ALVARADO</cp:lastModifiedBy>
  <cp:revision>2</cp:revision>
  <dcterms:created xsi:type="dcterms:W3CDTF">2026-07-09T19:14:21Z</dcterms:created>
  <dcterms:modified xsi:type="dcterms:W3CDTF">2026-07-09T20:43:19Z</dcterms:modified>
</cp:coreProperties>
</file>